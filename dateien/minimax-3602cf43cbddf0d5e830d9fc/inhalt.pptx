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nbauberlin.blogspot.com/2026/10/zusatzliche-fassadendammung-und.html" TargetMode="External"/><Relationship Id="rId3" Type="http://schemas.openxmlformats.org/officeDocument/2006/relationships/hyperlink" Target="https://holzundhaus.github.io/holzfassadenbauberlin/dateien/minimax-3602cf43cbddf0d5e830d9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Zusätzliche Fassadendämmung und Holzbekleidung: Schichten zu einem System zusammenfügen · Erklärende Präsentation</a:t>
            </a:r>
          </a:p>
        </p:txBody>
      </p:sp>
      <p:sp>
        <p:nvSpPr>
          <p:cNvPr id="3" name="Content Placeholder 2"/>
          <p:cNvSpPr>
            <a:spLocks noGrp="1"/>
          </p:cNvSpPr>
          <p:nvPr>
            <p:ph idx="1"/>
          </p:nvPr>
        </p:nvSpPr>
        <p:spPr/>
        <p:txBody>
          <a:bodyPr/>
          <a:lstStyle/>
          <a:p>
            <a:r>
              <a:t>Überblick: Eine zusätzliche Dämmebene verändert nicht nur den Wärmeschutz einer Außenwand, sondern auch den gesamten Aufbau einer hinterlüfteten Holzfassade. Dämmung, Unterkonstruktion, Hinterlüftung und sichtbare Bekleidung müssen deshalb von Anfang an als zusammenhängendes System betrachtet werden. Dieser Beitrag zeigt, welche Fragen zu Wandaufbau, Befestigung, Anschlüssen und Materialien vor der Ausführung geklärt werden sollten. Er ergänzt die Darstellung des grundsätzlichen Fassadenaufbaus und richtet den Blick auf die Veränderungen, die durch eine zusätzliche Dämmebene entstehen.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zusätzliche Dämmung am Fassadenaufbau verändert</a:t>
            </a:r>
          </a:p>
        </p:txBody>
      </p:sp>
      <p:sp>
        <p:nvSpPr>
          <p:cNvPr id="3" name="Content Placeholder 2"/>
          <p:cNvSpPr>
            <a:spLocks noGrp="1"/>
          </p:cNvSpPr>
          <p:nvPr>
            <p:ph idx="1"/>
          </p:nvPr>
        </p:nvSpPr>
        <p:spPr/>
        <p:txBody>
          <a:bodyPr/>
          <a:lstStyle/>
          <a:p>
            <a:pPr>
              <a:defRPr sz="1800"/>
            </a:pPr>
            <a:r>
              <a:t>Bei einer vorgehängten, hinterlüfteten Holzfassade wirken mehrere Ebenen zusammen: Die tragende Außenwand bildet den Ausgangspunkt, eine Dämmebene übernimmt den Wärmeschutz, die Unterkonstruktion trägt die Bekleidung und stellt den Luftspalt her, die Hinterlüftung unterstützt das Abtrocknen, und die Holzbekleidung schützt die Konstruktion vor Witterungseinflüssen. Wird eine Dämmung nachträglich ergänzt oder verstärkt, verschiebt sich die äußere Bezugsebene nach außen. Dadurch ändern sich nicht nur die Anschlussmaße, sondern auch die Anforderungen an die Befestigungslängen. Aus diesem Grund sollte die Dämmebene in die Planung des gesamten Schi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zusätzliche Dämmung am Fassadenaufbau verändert</a:t>
            </a:r>
          </a:p>
        </p:txBody>
      </p:sp>
      <p:sp>
        <p:nvSpPr>
          <p:cNvPr id="3" name="Content Placeholder 2"/>
          <p:cNvSpPr>
            <a:spLocks noGrp="1"/>
          </p:cNvSpPr>
          <p:nvPr>
            <p:ph idx="1"/>
          </p:nvPr>
        </p:nvSpPr>
        <p:spPr/>
        <p:txBody>
          <a:bodyPr/>
          <a:lstStyle/>
          <a:p>
            <a:pPr>
              <a:defRPr sz="1800"/>
            </a:pPr>
            <a:r>
              <a:t>chtenaufbaus einbezogen werden und nicht erst nach der Auswahl der Bekleidung festgelegt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Schichtenfolge von innen nach außen</a:t>
            </a:r>
          </a:p>
        </p:txBody>
      </p:sp>
      <p:sp>
        <p:nvSpPr>
          <p:cNvPr id="3" name="Content Placeholder 2"/>
          <p:cNvSpPr>
            <a:spLocks noGrp="1"/>
          </p:cNvSpPr>
          <p:nvPr>
            <p:ph idx="1"/>
          </p:nvPr>
        </p:nvSpPr>
        <p:spPr/>
        <p:txBody>
          <a:bodyPr/>
          <a:lstStyle/>
          <a:p>
            <a:pPr>
              <a:defRPr sz="1800"/>
            </a:pPr>
            <a:r>
              <a:t>Für die weitere Planung ist eine klare Beschreibung des Wandaufbaus hilfreich. Von innen nach außen gehören dazu die tragende Außenwand, die Dämmebene, die Unterkonstruktion, die offene Luftschicht und die Holzbekleidung. Die tragende Wand bestimmt, wo Befestigungen möglich sind und ob Vorarbeiten erforderlich sind. Die Auswahl und Stärke der Dämmung gehören in die energetische Betrachtung des Gebäudes. Die Unterkonstruktion muss sowohl die Lasten der Holzbekleidung abtragen als auch den Abstand für die Hinterlüftung zuverlässig halten. Die Luftschicht wiederum erfüllt ihre Aufgabe nur, wenn Zu- und Abluftöffnungen abgestimmt sind. Wie diese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Schichtenfolge von innen nach außen</a:t>
            </a:r>
          </a:p>
        </p:txBody>
      </p:sp>
      <p:sp>
        <p:nvSpPr>
          <p:cNvPr id="3" name="Content Placeholder 2"/>
          <p:cNvSpPr>
            <a:spLocks noGrp="1"/>
          </p:cNvSpPr>
          <p:nvPr>
            <p:ph idx="1"/>
          </p:nvPr>
        </p:nvSpPr>
        <p:spPr/>
        <p:txBody>
          <a:bodyPr/>
          <a:lstStyle/>
          <a:p>
            <a:pPr>
              <a:defRPr sz="1800"/>
            </a:pPr>
            <a:r>
              <a:t>Zusammenarbeit funktioniert, zeigt auch der Beitrag zum Aufbau und zur Hinterlüftung der Holzfassade.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Dämmung und Unterkonstruktion prüfen</a:t>
            </a:r>
          </a:p>
        </p:txBody>
      </p:sp>
      <p:sp>
        <p:nvSpPr>
          <p:cNvPr id="3" name="Content Placeholder 2"/>
          <p:cNvSpPr>
            <a:spLocks noGrp="1"/>
          </p:cNvSpPr>
          <p:nvPr>
            <p:ph idx="1"/>
          </p:nvPr>
        </p:nvSpPr>
        <p:spPr/>
        <p:txBody>
          <a:bodyPr/>
          <a:lstStyle/>
          <a:p>
            <a:pPr>
              <a:defRPr sz="1800"/>
            </a:pPr>
            <a:r>
              <a:t>Vor der Ausführung sollte der Bestand genauer beschrieben werden. Dazu gehören der vorhandene Wandaufbau, erkennbare Feuchte- oder Salzschäden sowie die Situation an Fenstern, Sockeln und Ecken. Auffällige Stellen lassen sich vor dem Überdecken durch eine neue Dämmebene prüfen und dokumentieren. Bei der Dämmung sind nicht nur die gewünschte Wärmeschutzfunktion, sondern auch die geplante Unterkonstruktion und die Frage nach einer diffusionsoffenen oder eher dampfbremsenden Ebene zu berücksichtigen. Auch die Verlegerichtung stellt unterschiedliche Anforderungen an die Anordnung der Lattung. Senkrechte und waagerechte Lösungen können daher unter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Dämmung und Unterkonstruktion prüfen</a:t>
            </a:r>
          </a:p>
        </p:txBody>
      </p:sp>
      <p:sp>
        <p:nvSpPr>
          <p:cNvPr id="3" name="Content Placeholder 2"/>
          <p:cNvSpPr>
            <a:spLocks noGrp="1"/>
          </p:cNvSpPr>
          <p:nvPr>
            <p:ph idx="1"/>
          </p:nvPr>
        </p:nvSpPr>
        <p:spPr/>
        <p:txBody>
          <a:bodyPr/>
          <a:lstStyle/>
          <a:p>
            <a:pPr>
              <a:defRPr sz="1800"/>
            </a:pPr>
            <a:r>
              <a:t>schiedliche Befestigungen und Abstände erfordern. Die gewünschte gestalterische Wirkung des Profils ist deshalb eng mit der konstruktiven Planung verbunden.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Holzbekleidung</a:t>
            </a:r>
          </a:p>
        </p:txBody>
      </p:sp>
      <p:sp>
        <p:nvSpPr>
          <p:cNvPr id="3" name="Content Placeholder 2"/>
          <p:cNvSpPr>
            <a:spLocks noGrp="1"/>
          </p:cNvSpPr>
          <p:nvPr>
            <p:ph idx="1"/>
          </p:nvPr>
        </p:nvSpPr>
        <p:spPr/>
        <p:txBody>
          <a:bodyPr/>
          <a:lstStyle/>
          <a:p>
            <a:pPr>
              <a:defRPr sz="1800"/>
            </a:pPr>
            <a:r>
              <a:t>Eine zusätzliche Dämmebene wirkt sich unmittelbar auf Sockelhöhen, Fensterbankanschlüsse und Eckausbildungen aus. Diese Details sollten bereits im Angebot oder in der Ausführungsplanung beschrieben sein, damit sie später nicht improvisiert werden müssen. Auch die Wahl der Holzart und der Oberfläche gehört zur Systemplanung. Profil, Sortierung und Behandlung beeinflussen die konstruktiven Voraussetzungen für das Abtrocknen der Fassade. Vor der endgültigen Materialentscheidung kann ein Muster helfen, das Erscheinungsbild und die spätere Pflegepraxis besser einzuschätzen. Welche Pflegeprodukte verwendet werden sollen, sollte ebenfalls geklärt we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Holzbekleidung</a:t>
            </a:r>
          </a:p>
        </p:txBody>
      </p:sp>
      <p:sp>
        <p:nvSpPr>
          <p:cNvPr id="3" name="Content Placeholder 2"/>
          <p:cNvSpPr>
            <a:spLocks noGrp="1"/>
          </p:cNvSpPr>
          <p:nvPr>
            <p:ph idx="1"/>
          </p:nvPr>
        </p:nvSpPr>
        <p:spPr/>
        <p:txBody>
          <a:bodyPr/>
          <a:lstStyle/>
          <a:p>
            <a:pPr>
              <a:defRPr sz="1800"/>
            </a:pPr>
            <a:r>
              <a:t>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aussagekräftige Anfrage enthält</a:t>
            </a:r>
          </a:p>
        </p:txBody>
      </p:sp>
      <p:sp>
        <p:nvSpPr>
          <p:cNvPr id="3" name="Content Placeholder 2"/>
          <p:cNvSpPr>
            <a:spLocks noGrp="1"/>
          </p:cNvSpPr>
          <p:nvPr>
            <p:ph idx="1"/>
          </p:nvPr>
        </p:nvSpPr>
        <p:spPr/>
        <p:txBody>
          <a:bodyPr/>
          <a:lstStyle/>
          <a:p>
            <a:pPr>
              <a:defRPr sz="1800"/>
            </a:pPr>
            <a:r>
              <a:t>Für eine realistische Einordnung der Arbeit helfen Angaben zum Wandaufbau, zur vorgesehenen Dämmung und zur gewünschten Verlegerichtung. Fotos von Sockel, Fenstern, Ecken und eventuellen Schadstellen sowie Pläne des Bestands können ergänzend bereitgestellt werden. Damit lassen sich Befestigung, Hinterlüftung, Brandschutz und Anschlüsse von Anfang an gemeinsam betrachten. Wer zusätzlich eine wirtschaftliche Einordnung sucht, findet im Ratgeber zu den Kosten einer Holzfassade Hinweise darauf, welche Positionen in einem vollständigen Angebot aufgeführt werden sollten.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Zusätzliche Fassadendämmung und Holzbekleidung: Schichten zu einem System zusammenfügen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