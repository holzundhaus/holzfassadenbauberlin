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nbauberlin.blogspot.com/2026/10/holzfassade-in-berlin-so-laufen.html" TargetMode="External"/><Relationship Id="rId3" Type="http://schemas.openxmlformats.org/officeDocument/2006/relationships/hyperlink" Target="https://holzundhaus.github.io/holzfassadenbauberlin/dateien/minimax-19c40edde069e11941656d9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in Berlin: So laufen Bestandsaufnahme, Planung und Montage sinnvoll ab · Erklärende Präsentation</a:t>
            </a:r>
          </a:p>
        </p:txBody>
      </p:sp>
      <p:sp>
        <p:nvSpPr>
          <p:cNvPr id="3" name="Content Placeholder 2"/>
          <p:cNvSpPr>
            <a:spLocks noGrp="1"/>
          </p:cNvSpPr>
          <p:nvPr>
            <p:ph idx="1"/>
          </p:nvPr>
        </p:nvSpPr>
        <p:spPr/>
        <p:txBody>
          <a:bodyPr/>
          <a:lstStyle/>
          <a:p>
            <a:r>
              <a:t>Überblick: Für die Planung einer Holzfassade in Berlin ist die Reihenfolge entscheidend: Erst werden Wand und Anschlüsse untersucht, danach Aufbau, Unterkonstruktion und Bekleidung geplant. Der folgende Leitfaden übersetzt den Ablauf aus dem Beitrag „Holzfassade in Berlin“ in eine konkrete Checkliste für Bauherren. Er zeigt, welche Fragen vor der Angebotsanfrage geklärt sein sollten, wie sich Montagefenster und Vorlauf einschätzen lassen und worauf bei Montage, Abnahme sowie späterer Pflege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Bestand und Zielbild klären</a:t>
            </a:r>
          </a:p>
        </p:txBody>
      </p:sp>
      <p:sp>
        <p:nvSpPr>
          <p:cNvPr id="3" name="Content Placeholder 2"/>
          <p:cNvSpPr>
            <a:spLocks noGrp="1"/>
          </p:cNvSpPr>
          <p:nvPr>
            <p:ph idx="1"/>
          </p:nvPr>
        </p:nvSpPr>
        <p:spPr/>
        <p:txBody>
          <a:bodyPr/>
          <a:lstStyle/>
          <a:p>
            <a:pPr>
              <a:defRPr sz="1800"/>
            </a:pPr>
            <a:r>
              <a:t>Eine belastbare Planung beginnt mit einer kurzen Bestandsaufnahme. Wichtig sind der Wandaufbau, sichtbare Feuchtespuren oder Salzausblühungen sowie die Zugänglichkeit von Hof und Fassade. Auch Fenster, Sockel, Ecken und Dachanschluss beeinflussen den späteren Aufbau. Ergänzend sollten Fotos und eine Skizze zeigen, wo Schäden liegen und wo Arbeitsflächen benötigt werden. Parallel zum technischen Bestand braucht das Projekt ein Zielbild: ungefähre Fläche, gewünschte Holzoptik, Profilwirkung und späteres Pflegeverhalten. Eine solche Beschreibung erleichtert den Vergleich, weil Angebote nicht nur nach unterschiedlichen Holzarten, sondern auch nac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Bestand und Zielbild klären</a:t>
            </a:r>
          </a:p>
        </p:txBody>
      </p:sp>
      <p:sp>
        <p:nvSpPr>
          <p:cNvPr id="3" name="Content Placeholder 2"/>
          <p:cNvSpPr>
            <a:spLocks noGrp="1"/>
          </p:cNvSpPr>
          <p:nvPr>
            <p:ph idx="1"/>
          </p:nvPr>
        </p:nvSpPr>
        <p:spPr/>
        <p:txBody>
          <a:bodyPr/>
          <a:lstStyle/>
          <a:p>
            <a:pPr>
              <a:defRPr sz="1800"/>
            </a:pPr>
            <a:r>
              <a:t>h unterschiedlichen Unterkonstruktionen, Dämmungen und Anschlüssen aufgebaut sein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vorbereiten, ohne daraus einen Auftrag zu machen</a:t>
            </a:r>
          </a:p>
        </p:txBody>
      </p:sp>
      <p:sp>
        <p:nvSpPr>
          <p:cNvPr id="3" name="Content Placeholder 2"/>
          <p:cNvSpPr>
            <a:spLocks noGrp="1"/>
          </p:cNvSpPr>
          <p:nvPr>
            <p:ph idx="1"/>
          </p:nvPr>
        </p:nvSpPr>
        <p:spPr/>
        <p:txBody>
          <a:bodyPr/>
          <a:lstStyle/>
          <a:p>
            <a:pPr>
              <a:defRPr sz="1800"/>
            </a:pPr>
            <a:r>
              <a:t>Für die Anfrage gehören Standort, Neubau oder Bestand, Flächengröße, vorhandene Schäden, Materialvorstellung, Zeitraum, Gerüstsituation und Angaben zu einer optionalen Dämmung in eine übersichtliche Unterlage. Zugang und Gerüst sowie nutzbare Flächen für Lagerung und Montage sollten ausdrücklich genannt werden. Fotos können die Abstimmung erleichtern und nach Rücksprache übermittelt werden. Wichtig ist die Einordnung: Eine Anfrage dient der Klärung von Möglichkeiten und weiteren Voraussetzungen. Sie ist noch kein Auftrag und allein keine Zusage zu Preis, Termin oder Verfügbarkeit eines Fachbetriebs. Fehlt eine dieser Angaben, bleiben zentrale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vorbereiten, ohne daraus einen Auftrag zu machen</a:t>
            </a:r>
          </a:p>
        </p:txBody>
      </p:sp>
      <p:sp>
        <p:nvSpPr>
          <p:cNvPr id="3" name="Content Placeholder 2"/>
          <p:cNvSpPr>
            <a:spLocks noGrp="1"/>
          </p:cNvSpPr>
          <p:nvPr>
            <p:ph idx="1"/>
          </p:nvPr>
        </p:nvSpPr>
        <p:spPr/>
        <p:txBody>
          <a:bodyPr/>
          <a:lstStyle/>
          <a:p>
            <a:pPr>
              <a:defRPr sz="1800"/>
            </a:pPr>
            <a:r>
              <a:t> Fragen bis zum Vor-Ort-Termin offen.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Vor-Ort-Termin: Details prüfen und Ausführung festlegen</a:t>
            </a:r>
          </a:p>
        </p:txBody>
      </p:sp>
      <p:sp>
        <p:nvSpPr>
          <p:cNvPr id="3" name="Content Placeholder 2"/>
          <p:cNvSpPr>
            <a:spLocks noGrp="1"/>
          </p:cNvSpPr>
          <p:nvPr>
            <p:ph idx="1"/>
          </p:nvPr>
        </p:nvSpPr>
        <p:spPr/>
        <p:txBody>
          <a:bodyPr/>
          <a:lstStyle/>
          <a:p>
            <a:pPr>
              <a:defRPr sz="1800"/>
            </a:pPr>
            <a:r>
              <a:t>Beim Vor-Ort-Termin werden Aufmaß, Anschlusssituationen, Zugang, Gerüst und Arbeitsraum geprüft. Offene Punkte aus der Bestandsaufnahme lassen sich dann gezielt klären. Erst im Anschluss sollte die Ausführungsplanung festgelegt werden: Material, Profil, Befestigung, Aufbau der Luftschicht, Anschlüsse und Pflegekonzept. Besonders Anschlüsse an Fenstern, im Sockelbereich und an Ecken müssen vor der Montage eindeutig sein. Sie sollten nicht erst auf der Baustelle improvisiert werden. Die gewünschte optische Wirkung und das Pflegeverhalten gehören dabei zusammen, weil Holz mit der Zeit seinen Farbton verändert. Ein vorab festgelegtes Konzept scha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Vor-Ort-Termin: Details prüfen und Ausführung festlegen</a:t>
            </a:r>
          </a:p>
        </p:txBody>
      </p:sp>
      <p:sp>
        <p:nvSpPr>
          <p:cNvPr id="3" name="Content Placeholder 2"/>
          <p:cNvSpPr>
            <a:spLocks noGrp="1"/>
          </p:cNvSpPr>
          <p:nvPr>
            <p:ph idx="1"/>
          </p:nvPr>
        </p:nvSpPr>
        <p:spPr/>
        <p:txBody>
          <a:bodyPr/>
          <a:lstStyle/>
          <a:p>
            <a:pPr>
              <a:defRPr sz="1800"/>
            </a:pPr>
            <a:r>
              <a:t>fft klare Erwartungen für Montage und Abnahme.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mit mehreren Kontrollpunkten begleiten</a:t>
            </a:r>
          </a:p>
        </p:txBody>
      </p:sp>
      <p:sp>
        <p:nvSpPr>
          <p:cNvPr id="3" name="Content Placeholder 2"/>
          <p:cNvSpPr>
            <a:spLocks noGrp="1"/>
          </p:cNvSpPr>
          <p:nvPr>
            <p:ph idx="1"/>
          </p:nvPr>
        </p:nvSpPr>
        <p:spPr/>
        <p:txBody>
          <a:bodyPr/>
          <a:lstStyle/>
          <a:p>
            <a:pPr>
              <a:defRPr sz="1800"/>
            </a:pPr>
            <a:r>
              <a:t>Eine begleitete Montage verringert das Risiko, dass verdeckte Mängel erst nach der Bekleidung sichtbar werden. Vor der Unterkonstruktion werden Untergrund und Anschlusspunkte kontrolliert. Vor der Bekleidung folgen die Sichtprüfung der Luftschicht, der Befestigung und gegebenenfalls vorhandener Dämmung. Dazu gehören auch die Überprüfung der Fugen sowie die Dokumentation von Ausführung und Material. Trockene Witterung erleichtert die Arbeiten und reduziert das Risiko, dass frisches Holz unmittelbar starkem Schlagregen ausgesetzt wird. Ein Montagefenster allein ersetzt jedoch nicht die sorgfältige Detailplanung, insbesondere wenn gleichzeitig 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mit mehreren Kontrollpunkten begleiten</a:t>
            </a:r>
          </a:p>
        </p:txBody>
      </p:sp>
      <p:sp>
        <p:nvSpPr>
          <p:cNvPr id="3" name="Content Placeholder 2"/>
          <p:cNvSpPr>
            <a:spLocks noGrp="1"/>
          </p:cNvSpPr>
          <p:nvPr>
            <p:ph idx="1"/>
          </p:nvPr>
        </p:nvSpPr>
        <p:spPr/>
        <p:txBody>
          <a:bodyPr/>
          <a:lstStyle/>
          <a:p>
            <a:pPr>
              <a:defRPr sz="1800"/>
            </a:pPr>
            <a:r>
              <a:t>ine zusätzliche Dämmung vorgesehen 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und Pflege als fortlaufenden Prozess planen</a:t>
            </a:r>
          </a:p>
        </p:txBody>
      </p:sp>
      <p:sp>
        <p:nvSpPr>
          <p:cNvPr id="3" name="Content Placeholder 2"/>
          <p:cNvSpPr>
            <a:spLocks noGrp="1"/>
          </p:cNvSpPr>
          <p:nvPr>
            <p:ph idx="1"/>
          </p:nvPr>
        </p:nvSpPr>
        <p:spPr/>
        <p:txBody>
          <a:bodyPr/>
          <a:lstStyle/>
          <a:p>
            <a:pPr>
              <a:defRPr sz="1800"/>
            </a:pPr>
            <a:r>
              <a:t>Bei der Abnahme werden Oberfläche, Fugenbild und Anschlüsse sichtbar geprüft. Ergebnisse und verwendete Materialien sollten festgehalten werden, damit spätere Kontrollen nachvollziehbar bleiben. Holz verändert seine Farbton, weshalb eine dauerhaft gleichmäßige Optik ein passendes Pflegekonzept voraussetzt. Bereits bei der Planung hilft es, die spätere Zugänglichkeit zu berücksichtigen: Flächen, an denen Holz regelmäßig gepflegt oder geprüft werden müssen, sollten nicht dauerhaft unvertretbar verbaut sein. Erste Kontrollen und mögliche Nachbehandlungen gehören deshalb in die Terminplanung, statt erst bei sichtbaren Veränderungen zu beginnen.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und Abschluss vor dem Wunschtermin</a:t>
            </a:r>
          </a:p>
        </p:txBody>
      </p:sp>
      <p:sp>
        <p:nvSpPr>
          <p:cNvPr id="3" name="Content Placeholder 2"/>
          <p:cNvSpPr>
            <a:spLocks noGrp="1"/>
          </p:cNvSpPr>
          <p:nvPr>
            <p:ph idx="1"/>
          </p:nvPr>
        </p:nvSpPr>
        <p:spPr/>
        <p:txBody>
          <a:bodyPr/>
          <a:lstStyle/>
          <a:p>
            <a:pPr>
              <a:defRPr sz="1800"/>
            </a:pPr>
            <a:r>
              <a:t>Für einen realistischen Termin werden Bestandsaufnahme, Fachplanung, Angebot und Montage als voneinander abhängige Schritte betrachtet. Der Vorlauf sollte mehrere Wochen vor dem gewünschten Montagestart beginnen. Wird zusätzlich gedämmt, sind zusätzliche Abstimmungen erforderlich, damit Dämmung, Unterkonstruktion und Bekleidung zusammen geprüft werden. Ebenso sollte der gewünschte Zeitraum bereits in der Anfrage genannt werden. Als Abschluss dient eine kurze Projektdokumentation: festgelegte Aufbau, Materialien, Anschlüsse, Pflegehinweise, vereinbarte Kontrollpunkte und offene Punkte. So bleiben spätere Entscheidungen nachvollziehbar, ohne 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und Abschluss vor dem Wunschtermin</a:t>
            </a:r>
          </a:p>
        </p:txBody>
      </p:sp>
      <p:sp>
        <p:nvSpPr>
          <p:cNvPr id="3" name="Content Placeholder 2"/>
          <p:cNvSpPr>
            <a:spLocks noGrp="1"/>
          </p:cNvSpPr>
          <p:nvPr>
            <p:ph idx="1"/>
          </p:nvPr>
        </p:nvSpPr>
        <p:spPr/>
        <p:txBody>
          <a:bodyPr/>
          <a:lstStyle/>
          <a:p>
            <a:pPr>
              <a:defRPr sz="1800"/>
            </a:pPr>
            <a:r>
              <a:t>realistische Aussagen zu Preisen, Verfügbarkeiten oder örtlichen Genehmigungen zu treffen.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in Berlin: So laufen Bestandsaufnahme, Planung und Montage sinnvoll ab</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